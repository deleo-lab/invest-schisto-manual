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InVEST: Schistosomiasis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Scenario 1: Pemba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|---------|---------|---------|---------|
=========================================
                                          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Input data: AOI</a:t>
            </a:r>
          </a:p>
        </p:txBody>
      </p:sp>
      <p:pic>
        <p:nvPicPr>
          <p:cNvPr descr="InVEST-slides-Sept-2026-CIV_ETH_RWA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Input data: Water</a:t>
            </a:r>
          </a:p>
        </p:txBody>
      </p:sp>
      <p:pic>
        <p:nvPicPr>
          <p:cNvPr descr="InVEST-slides-Sept-2026-CIV_ETH_RWA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Input data: Average temperature</a:t>
            </a:r>
          </a:p>
        </p:txBody>
      </p:sp>
      <p:pic>
        <p:nvPicPr>
          <p:cNvPr descr="InVEST-slides-Sept-2026-CIV_ETH_RWA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Prediction: Compare temperature inputs</a:t>
            </a:r>
          </a:p>
          <a:p>
            <a:pPr lvl="0" indent="0" marL="0">
              <a:buNone/>
            </a:pPr>
            <a:r>
              <a:rPr/>
              <a:t>MODIS 2015 - 2026 vs No Temp.</a:t>
            </a:r>
          </a:p>
          <a:p>
            <a:pPr lvl="0" indent="0" marL="0">
              <a:buNone/>
            </a:pPr>
            <a:r>
              <a:rPr/>
              <a:t>There is a difference, though minor, which might be because there isn’t a lot of temperature variability in the MODIS data or inheriently because there is little topography and thus temperature variation across Pemba.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Prediction: Compare early and late elimination scenarios</a:t>
            </a:r>
          </a:p>
          <a:p>
            <a:pPr lvl="0" indent="0" marL="0">
              <a:buNone/>
            </a:pPr>
            <a:r>
              <a:rPr/>
              <a:t>Erradication began in 2012, the earliest data is from ZEST 2013. The ‘best’ recent data is 2021, though data collection went through 2024.</a:t>
            </a:r>
          </a:p>
        </p:txBody>
      </p:sp>
      <p:pic>
        <p:nvPicPr>
          <p:cNvPr descr="InVEST-slides-Sept-2026-CIV_ETH_RWA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Early and Late</a:t>
            </a:r>
          </a:p>
        </p:txBody>
      </p:sp>
      <p:pic>
        <p:nvPicPr>
          <p:cNvPr descr="InVEST-slides-Sept-2026-CIV_ETH_RWA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Suitability: Habitat risk</a:t>
            </a:r>
          </a:p>
        </p:txBody>
      </p:sp>
      <p:pic>
        <p:nvPicPr>
          <p:cNvPr descr="InVEST-slides-Sept-2026-CIV_ETH_RWA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Habitat suitability and convoluted risk</a:t>
            </a:r>
          </a:p>
        </p:txBody>
      </p:sp>
      <p:pic>
        <p:nvPicPr>
          <p:cNvPr descr="InVEST-slides-Sept-2026-CIV_ETH_RWA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ST-slides-Sept-2026-CIV_ETH_RWA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ST-slides-Sept-2026-CIV_ETH_RWA_files/figure-pptx/unnamed-chunk-12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Prediction: Convolved risk does not change overtime</a:t>
            </a:r>
          </a:p>
          <a:p>
            <a:pPr lvl="0" indent="0" marL="0">
              <a:buNone/>
            </a:pPr>
            <a:r>
              <a:rPr/>
              <a:t>Convolved risk stays stable 2015-2023 (average across the entire island)</a:t>
            </a:r>
          </a:p>
        </p:txBody>
      </p:sp>
      <p:pic>
        <p:nvPicPr>
          <p:cNvPr descr="InVEST-slides-Sept-2026-CIV_ETH_RWA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Snails found and risk have no/slightly negative relationship</a:t>
            </a:r>
          </a:p>
        </p:txBody>
      </p:sp>
      <p:pic>
        <p:nvPicPr>
          <p:cNvPr descr="InVEST-slides-Sept-2026-CIV_ETH_RWA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Schools and convolved risk</a:t>
            </a:r>
          </a:p>
        </p:txBody>
      </p:sp>
      <p:pic>
        <p:nvPicPr>
          <p:cNvPr descr="InVEST-slides-Sept-2026-CIV_ETH_RWA_files/figure-pptx/unnamed-chunk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ST-slides-Sept-2026-CIV_ETH_RWA_files/figure-pptx/unnamed-chunk-15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ST-slides-Sept-2026-CIV_ETH_RWA_files/figure-pptx/unnamed-chunk-15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Scenario: Soubre and Gribo-Popoli Hydroelectric Power Stations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|---------|---------|---------|---------|
=========================================
                                          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Dam locations</a:t>
            </a:r>
          </a:p>
        </p:txBody>
      </p:sp>
      <p:pic>
        <p:nvPicPr>
          <p:cNvPr descr="InVEST-slides-Sept-2026-CIV_ETH_RWA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Water changes</a:t>
            </a:r>
          </a:p>
        </p:txBody>
      </p:sp>
      <p:pic>
        <p:nvPicPr>
          <p:cNvPr descr="InVEST-slides-Sept-2026-CIV_ETH_RWA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NDVI</a:t>
            </a:r>
          </a:p>
        </p:txBody>
      </p:sp>
      <p:pic>
        <p:nvPicPr>
          <p:cNvPr descr="InVEST-slides-Sept-2026-CIV_ETH_RWA_files/figure-pptx/unnamed-chunk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Habitat suitability changes</a:t>
            </a:r>
          </a:p>
        </p:txBody>
      </p:sp>
      <p:pic>
        <p:nvPicPr>
          <p:cNvPr descr="InVEST-slides-Sept-2026-CIV_ETH_RWA_files/figure-pptx/unnamed-chunk-2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Convolved risk</a:t>
            </a:r>
          </a:p>
        </p:txBody>
      </p:sp>
      <p:pic>
        <p:nvPicPr>
          <p:cNvPr descr="InVEST-slides-Sept-2026-CIV_ETH_RWA_files/figure-pptx/unnamed-chunk-2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Mean and total risk increase over the construction period</a:t>
            </a:r>
          </a:p>
        </p:txBody>
      </p:sp>
      <p:pic>
        <p:nvPicPr>
          <p:cNvPr descr="InVEST-slides-Sept-2026-CIV_ETH_RWA_files/figure-pptx/unnamed-chunk-2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&lt;ggplot2::labels&gt; List of 2
 $ x: NULL
 $ y: chr "Convolved Risk in AOI"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Risk as proportion of AOI as low/med/high risk</a:t>
            </a:r>
          </a:p>
          <a:p>
            <a:pPr lvl="0" indent="0" marL="0">
              <a:buNone/>
            </a:pPr>
            <a:r>
              <a:rPr/>
              <a:t>Using 2015 model define low/med/high (&lt;0.3 quantile = low; &gt;0.7 quantile = high)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0%        40%        70% 
   0.00000   33.24016 9671.62783 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</p:txBody>
      </p:sp>
      <p:pic>
        <p:nvPicPr>
          <p:cNvPr descr="InVEST-slides-Sept-2026-CIV_ETH_RWA_files/figure-pptx/unnamed-chunk-2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Population at risk: Using fixed (2015) population estimate</a:t>
            </a:r>
          </a:p>
          <a:p>
            <a:pPr lvl="0" indent="0">
              <a:buNone/>
            </a:pPr>
            <a:r>
              <a:rPr>
                <a:latin typeface="Courier"/>
              </a:rPr>
              <a:t>
|---------|---------|---------|---------|
=========================================
                                          </a:t>
            </a:r>
          </a:p>
        </p:txBody>
      </p:sp>
      <p:pic>
        <p:nvPicPr>
          <p:cNvPr descr="InVEST-slides-Sept-2026-CIV_ETH_RWA_files/figure-pptx/unnamed-chunk-2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Population at risk: Using fixed (2015) population estimate</a:t>
            </a:r>
          </a:p>
        </p:txBody>
      </p:sp>
      <p:pic>
        <p:nvPicPr>
          <p:cNvPr descr="InVEST-slides-Sept-2026-CIV_ETH_RWA_files/figure-pptx/unnamed-chunk-2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InVEST: Schistosomiasis</dc:title>
  <dc:creator/>
  <cp:keywords/>
  <dcterms:created xsi:type="dcterms:W3CDTF">2026-10-14T22:30:49Z</dcterms:created>
  <dcterms:modified xsi:type="dcterms:W3CDTF">2026-10-14T22:30:49Z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